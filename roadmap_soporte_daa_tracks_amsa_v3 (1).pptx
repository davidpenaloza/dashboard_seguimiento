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pic>
        <p:nvPicPr>
          <p:cNvPr id="6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01752"/>
            <a:ext cx="1143000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9601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de iniciativas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Soporte DAA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19933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66A"/>
                </a:solidFill>
              </a:rPr>
              <a:t>Estado ejecutivo de tracks, alcance 100% y próximos pasos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487168"/>
            <a:ext cx="2743200" cy="7315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11296" y="2487168"/>
            <a:ext cx="1920240" cy="7315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32120" y="2487168"/>
            <a:ext cx="192024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52944" y="2487168"/>
            <a:ext cx="1920240" cy="7315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24612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59536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8C95"/>
                </a:solidFill>
              </a:rPr>
              <a:t>7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59536" y="3877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03B"/>
                </a:solidFill>
              </a:rPr>
              <a:t>tracks de trabajo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447288" y="324612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48456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CA6"/>
                </a:solidFill>
              </a:rPr>
              <a:t>Owner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648456" y="3877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03B"/>
                </a:solidFill>
              </a:rPr>
              <a:t>David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236208" y="324612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37376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102E"/>
                </a:solidFill>
              </a:rPr>
              <a:t>100%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6437376" y="3877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03B"/>
                </a:solidFill>
              </a:rPr>
              <a:t>alcance medible por track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9025128" y="324612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226296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A823"/>
                </a:solidFill>
              </a:rPr>
              <a:t>AMSA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9226296" y="3877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24303B"/>
                </a:solidFill>
              </a:rPr>
              <a:t>formato ejecutivo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658368" y="48920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3B"/>
                </a:solidFill>
              </a:rPr>
              <a:t>Monitoreo · Automatización · Gestión · Conocimiento · Gobernanza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" y="6217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666A"/>
                </a:solidFill>
              </a:rPr>
              <a:t>Fecha: 14 May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Consolidado general de tracks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Vista portafolio | owner transversal: David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261872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T1. Plataforma de Monitoreo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667512" y="160934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En curso | prioritario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551176" y="149047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A823"/>
                </a:solidFill>
              </a:rPr>
              <a:t>41%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7512" y="1901952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" y="1901952"/>
            <a:ext cx="952256" cy="109728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" y="2057400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Javier / Guille</a:t>
            </a:r>
            <a:endParaRPr lang="en-US" sz="610" dirty="0"/>
          </a:p>
        </p:txBody>
      </p:sp>
      <p:sp>
        <p:nvSpPr>
          <p:cNvPr id="22" name="Shape 19"/>
          <p:cNvSpPr/>
          <p:nvPr/>
        </p:nvSpPr>
        <p:spPr>
          <a:xfrm>
            <a:off x="3319272" y="1261872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83864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T2. Automatizaciones Operativas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3483864" y="160934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En curso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367528" y="149047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A823"/>
                </a:solidFill>
              </a:rPr>
              <a:t>29%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483864" y="1901952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83864" y="1901952"/>
            <a:ext cx="673547" cy="109728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83864" y="2057400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Formulario: Omar/Javier · WhatsApp/Guardia: Coni</a:t>
            </a:r>
            <a:endParaRPr lang="en-US" sz="610" dirty="0"/>
          </a:p>
        </p:txBody>
      </p:sp>
      <p:sp>
        <p:nvSpPr>
          <p:cNvPr id="29" name="Shape 26"/>
          <p:cNvSpPr/>
          <p:nvPr/>
        </p:nvSpPr>
        <p:spPr>
          <a:xfrm>
            <a:off x="6135624" y="1261872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00216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T3. Dashboard de Gestión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6300216" y="160934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En definición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183880" y="149047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6A"/>
                </a:solidFill>
              </a:rPr>
              <a:t>0%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00216" y="1901952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00216" y="1901952"/>
            <a:ext cx="0" cy="109728"/>
          </a:xfrm>
          <a:prstGeom prst="rect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00216" y="2057400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Omar / Caro / Coni (por confirmar)</a:t>
            </a:r>
            <a:endParaRPr lang="en-US" sz="610" dirty="0"/>
          </a:p>
        </p:txBody>
      </p:sp>
      <p:sp>
        <p:nvSpPr>
          <p:cNvPr id="36" name="Shape 33"/>
          <p:cNvSpPr/>
          <p:nvPr/>
        </p:nvSpPr>
        <p:spPr>
          <a:xfrm>
            <a:off x="8951976" y="1261872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116568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T4. Portal Interno de Soporte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9116568" y="160934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En definición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1000232" y="149047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CA6"/>
                </a:solidFill>
              </a:rPr>
              <a:t>4%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116568" y="1901952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116568" y="1901952"/>
            <a:ext cx="92903" cy="10972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16568" y="2057400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Coni · apoyo preliminar: Centinela</a:t>
            </a:r>
            <a:endParaRPr lang="en-US" sz="610" dirty="0"/>
          </a:p>
        </p:txBody>
      </p:sp>
      <p:sp>
        <p:nvSpPr>
          <p:cNvPr id="43" name="Shape 40"/>
          <p:cNvSpPr/>
          <p:nvPr/>
        </p:nvSpPr>
        <p:spPr>
          <a:xfrm>
            <a:off x="502920" y="2395728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67512" y="250545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T5. IA GEN</a:t>
            </a:r>
            <a:endParaRPr lang="en-US" sz="860" dirty="0"/>
          </a:p>
        </p:txBody>
      </p:sp>
      <p:sp>
        <p:nvSpPr>
          <p:cNvPr id="45" name="Text 42"/>
          <p:cNvSpPr/>
          <p:nvPr/>
        </p:nvSpPr>
        <p:spPr>
          <a:xfrm>
            <a:off x="667512" y="27432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Iniciado / en definición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551176" y="2624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CA6"/>
                </a:solidFill>
              </a:rPr>
              <a:t>19%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67512" y="3035808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67512" y="3035808"/>
            <a:ext cx="441289" cy="10972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7512" y="3191256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Gema · Pablo / Mathias · ideal: Javier / Omar</a:t>
            </a:r>
            <a:endParaRPr lang="en-US" sz="610" dirty="0"/>
          </a:p>
        </p:txBody>
      </p:sp>
      <p:sp>
        <p:nvSpPr>
          <p:cNvPr id="50" name="Shape 47"/>
          <p:cNvSpPr/>
          <p:nvPr/>
        </p:nvSpPr>
        <p:spPr>
          <a:xfrm>
            <a:off x="3319272" y="2395728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3483864" y="250545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T6. Capacitaciones</a:t>
            </a:r>
            <a:endParaRPr lang="en-US" sz="860" dirty="0"/>
          </a:p>
        </p:txBody>
      </p:sp>
      <p:sp>
        <p:nvSpPr>
          <p:cNvPr id="52" name="Text 49"/>
          <p:cNvSpPr/>
          <p:nvPr/>
        </p:nvSpPr>
        <p:spPr>
          <a:xfrm>
            <a:off x="3483864" y="27432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Stand by / despriorizado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367528" y="2624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9CA6"/>
                </a:solidFill>
              </a:rPr>
              <a:t>13%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3483864" y="3035808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483864" y="3035808"/>
            <a:ext cx="301935" cy="109728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483864" y="3191256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David</a:t>
            </a:r>
            <a:endParaRPr lang="en-US" sz="610" dirty="0"/>
          </a:p>
        </p:txBody>
      </p:sp>
      <p:sp>
        <p:nvSpPr>
          <p:cNvPr id="57" name="Shape 54"/>
          <p:cNvSpPr/>
          <p:nvPr/>
        </p:nvSpPr>
        <p:spPr>
          <a:xfrm>
            <a:off x="6135624" y="2395728"/>
            <a:ext cx="26517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6300216" y="250545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03B"/>
                </a:solidFill>
              </a:rPr>
              <a:t>T7. Grafana y Permisologías</a:t>
            </a:r>
            <a:endParaRPr lang="en-US" sz="860" dirty="0"/>
          </a:p>
        </p:txBody>
      </p:sp>
      <p:sp>
        <p:nvSpPr>
          <p:cNvPr id="59" name="Text 56"/>
          <p:cNvSpPr/>
          <p:nvPr/>
        </p:nvSpPr>
        <p:spPr>
          <a:xfrm>
            <a:off x="6300216" y="274320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3666A"/>
                </a:solidFill>
              </a:rPr>
              <a:t>En curso | habilitador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8183880" y="2624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A823"/>
                </a:solidFill>
              </a:rPr>
              <a:t>47%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6300216" y="3035808"/>
            <a:ext cx="2322576" cy="109728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300216" y="3035808"/>
            <a:ext cx="1091611" cy="109728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300216" y="3191256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63666A"/>
                </a:solidFill>
              </a:rPr>
              <a:t>Manos: Coordinación con Operaciones</a:t>
            </a:r>
            <a:endParaRPr lang="en-US" sz="610" dirty="0"/>
          </a:p>
        </p:txBody>
      </p:sp>
      <p:sp>
        <p:nvSpPr>
          <p:cNvPr id="64" name="Shape 61"/>
          <p:cNvSpPr/>
          <p:nvPr/>
        </p:nvSpPr>
        <p:spPr>
          <a:xfrm>
            <a:off x="502920" y="3657600"/>
            <a:ext cx="11155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7772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C95"/>
                </a:solidFill>
              </a:rPr>
              <a:t>Lectura ejecutiva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777240" y="4224528"/>
            <a:ext cx="2423160" cy="64008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77240" y="43708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303B"/>
                </a:solidFill>
              </a:rPr>
              <a:t>Focos prioritarios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77240" y="468172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Plataforma de Monitoreo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Automatizaciones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Grafana y Permisologías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3520440" y="4224528"/>
            <a:ext cx="2423160" cy="64008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520440" y="43708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303B"/>
                </a:solidFill>
              </a:rPr>
              <a:t>Frentes por activar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3520440" y="468172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Portal Interno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Dashboard de Gestión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IA GEN: bot documentación</a:t>
            </a:r>
            <a:endParaRPr lang="en-US" sz="730" dirty="0"/>
          </a:p>
        </p:txBody>
      </p:sp>
      <p:sp>
        <p:nvSpPr>
          <p:cNvPr id="72" name="Shape 69"/>
          <p:cNvSpPr/>
          <p:nvPr/>
        </p:nvSpPr>
        <p:spPr>
          <a:xfrm>
            <a:off x="6263640" y="4224528"/>
            <a:ext cx="2423160" cy="64008"/>
          </a:xfrm>
          <a:prstGeom prst="rect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263640" y="43708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303B"/>
                </a:solidFill>
              </a:rPr>
              <a:t>Despriorizado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6263640" y="468172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Capacitaciones queda en stand by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Apoyo puntual según necesidad</a:t>
            </a:r>
            <a:endParaRPr lang="en-US" sz="730" dirty="0"/>
          </a:p>
        </p:txBody>
      </p:sp>
      <p:sp>
        <p:nvSpPr>
          <p:cNvPr id="75" name="Shape 72"/>
          <p:cNvSpPr/>
          <p:nvPr/>
        </p:nvSpPr>
        <p:spPr>
          <a:xfrm>
            <a:off x="9006840" y="4224528"/>
            <a:ext cx="242316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006840" y="43708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303B"/>
                </a:solidFill>
              </a:rPr>
              <a:t>Criterio de avance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9006840" y="468172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OK = 100%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En curso = 50%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63666A"/>
                </a:solidFill>
              </a:rPr>
              <a:t>• Pendiente/stand by = 0%</a:t>
            </a:r>
            <a:endParaRPr lang="en-US" sz="730" dirty="0"/>
          </a:p>
        </p:txBody>
      </p:sp>
      <p:sp>
        <p:nvSpPr>
          <p:cNvPr id="78" name="Text 75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79" name="Text 76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2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84" name="Text 81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85" name="Shape 82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1 — Plataforma de Monitoreo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1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BACKEND Y REFACTORIZACIÓN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SIRO SAG refactorizado y validado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NOT PII refactorizado y validado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67512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" y="270296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23544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ADA en ajuste de equivalencia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67512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3544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Productos pendientes por torre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FRONTEND / ESTÁNDAR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46043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Primera versión estándar validada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46043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Queries KQL entregadas a Grafana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3538728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46043" y="270296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794760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Optimización HUB MLP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3538728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46043" y="305043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794760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Vistas AMG y Soporte DAA v1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ADOPCIÓN SOPORTE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17259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Documentación estándar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Traspaso al equipo de soporte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6409944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665976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Incorporar en Welcome KIT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6409944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65976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Una persona por torre toma producto</a:t>
            </a:r>
            <a:endParaRPr lang="en-US" sz="820" dirty="0"/>
          </a:p>
        </p:txBody>
      </p:sp>
      <p:sp>
        <p:nvSpPr>
          <p:cNvPr id="56" name="Shape 53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BACKLOG POR TORRE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MLP: CAEx · Nash · Potencia · ERA</a:t>
            </a:r>
            <a:endParaRPr lang="en-US" sz="820" dirty="0"/>
          </a:p>
        </p:txBody>
      </p:sp>
      <p:sp>
        <p:nvSpPr>
          <p:cNvPr id="61" name="Shape 58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Centinela: MT · SIRO · ADA · MP10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9281160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537192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Antucoya: MT · SIRO · ADA N1H</a:t>
            </a:r>
            <a:endParaRPr lang="en-US" sz="820" dirty="0"/>
          </a:p>
        </p:txBody>
      </p:sp>
      <p:sp>
        <p:nvSpPr>
          <p:cNvPr id="65" name="Shape 62"/>
          <p:cNvSpPr/>
          <p:nvPr/>
        </p:nvSpPr>
        <p:spPr>
          <a:xfrm>
            <a:off x="9281160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537192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CMZ / AMS: reporte · PPFM · OPR · Energía</a:t>
            </a:r>
            <a:endParaRPr lang="en-US" sz="820" dirty="0"/>
          </a:p>
        </p:txBody>
      </p:sp>
      <p:sp>
        <p:nvSpPr>
          <p:cNvPr id="67" name="Shape 64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69" name="Shape 66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14400" y="5102352"/>
            <a:ext cx="712318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41%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5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3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8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16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7" name="Text 74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Javier / Guille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En curso | prioritario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41%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Consolidar un modelo estándar de monitoreo técnico y visual para soporte.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El 100% excluye el monitoreo transversal de ingestas, que será liderado por Integraciones.</a:t>
            </a:r>
            <a:endParaRPr lang="en-US" sz="760" dirty="0"/>
          </a:p>
        </p:txBody>
      </p:sp>
      <p:sp>
        <p:nvSpPr>
          <p:cNvPr id="78" name="Shape 75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9" name="Text 76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Cerrar equivalencia ADA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Traspaso al equipo soporte + Welcome KIT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Asignar un producto por torre</a:t>
            </a:r>
            <a:endParaRPr lang="en-US" sz="720" dirty="0"/>
          </a:p>
        </p:txBody>
      </p:sp>
      <p:sp>
        <p:nvSpPr>
          <p:cNvPr id="81" name="Shape 78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2" name="Text 79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Priorización del backlog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Disponibilidad de líderes de torre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Complejidad por producto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5" name="Text 82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AMG consume dashboard; no requiere traspaso técnico de lógica.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88" name="Text 85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3</a:t>
            </a:r>
            <a:endParaRPr lang="en-US" sz="620" dirty="0"/>
          </a:p>
        </p:txBody>
      </p:sp>
      <p:sp>
        <p:nvSpPr>
          <p:cNvPr id="89" name="Shape 86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91" name="Shape 88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93" name="Text 90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94" name="Shape 91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6" name="Text 93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2 — Automatizaciones Operativas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2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FORMULARIO AUTOMÁTICO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Formulario operativo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Categorizar tarjetas DevOps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67512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3544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Warning por horas infladas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667512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3544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Bot de notificación responsable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67512" y="339699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3544" y="3383280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Tablas detalle, turnos y activaciones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WHATSAPP / ASISTENTE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46043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Formato WS a ADB ajustado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46043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Tabla DEV creada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3538728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46043" y="270296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794760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Data movida a DEV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3538728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46043" y="305043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794760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Ingesta en Log Analytics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3538728" y="339699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46043" y="339791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794760" y="3383280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Marcha blanca con mensajes reales</a:t>
            </a:r>
            <a:endParaRPr lang="en-US" sz="820" dirty="0"/>
          </a:p>
        </p:txBody>
      </p:sp>
      <p:sp>
        <p:nvSpPr>
          <p:cNvPr id="47" name="Shape 44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GUARDIA AUTOMÁTICA BETA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alcance mínimo beta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63666A"/>
          </a:solidFill>
          <a:ln w="15875">
            <a:solidFill>
              <a:srgbClr val="63666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17259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⏸</a:t>
            </a:r>
            <a:endParaRPr lang="en-US" sz="620" dirty="0"/>
          </a:p>
        </p:txBody>
      </p:sp>
      <p:sp>
        <p:nvSpPr>
          <p:cNvPr id="54" name="Text 51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Evaluar Twilio y costo NTT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6409944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665976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Diseñar flujo conceptual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6409944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665976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Preparar caso de negocio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6409944" y="339699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665976" y="3383280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Go / No Go</a:t>
            </a:r>
            <a:endParaRPr lang="en-US" sz="820" dirty="0"/>
          </a:p>
        </p:txBody>
      </p:sp>
      <p:sp>
        <p:nvSpPr>
          <p:cNvPr id="61" name="Shape 58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ESTABILIZACIÓN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Documentar operación WhatsApp</a:t>
            </a:r>
            <a:endParaRPr lang="en-US" sz="820" dirty="0"/>
          </a:p>
        </p:txBody>
      </p:sp>
      <p:sp>
        <p:nvSpPr>
          <p:cNvPr id="66" name="Shape 63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Cerrar criterio de marcha blanca</a:t>
            </a:r>
            <a:endParaRPr lang="en-US" sz="820" dirty="0"/>
          </a:p>
        </p:txBody>
      </p:sp>
      <p:sp>
        <p:nvSpPr>
          <p:cNvPr id="68" name="Shape 65"/>
          <p:cNvSpPr/>
          <p:nvPr/>
        </p:nvSpPr>
        <p:spPr>
          <a:xfrm>
            <a:off x="9281160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537192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Validar mejoras con casos reales</a:t>
            </a:r>
            <a:endParaRPr lang="en-US" sz="820" dirty="0"/>
          </a:p>
        </p:txBody>
      </p:sp>
      <p:sp>
        <p:nvSpPr>
          <p:cNvPr id="70" name="Shape 67"/>
          <p:cNvSpPr/>
          <p:nvPr/>
        </p:nvSpPr>
        <p:spPr>
          <a:xfrm>
            <a:off x="9281160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537192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continuidad guardia automática</a:t>
            </a:r>
            <a:endParaRPr lang="en-US" sz="820" dirty="0"/>
          </a:p>
        </p:txBody>
      </p:sp>
      <p:sp>
        <p:nvSpPr>
          <p:cNvPr id="72" name="Shape 69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74" name="Shape 71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14400" y="5102352"/>
            <a:ext cx="503834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29%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5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1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13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19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2" name="Text 79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Formulario: Omar/Javier · WhatsApp/Guardia: Coni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En curso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29%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Reducir carga manual y mejorar trazabilidad operativa mediante automatizaciones.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Tres frentes: formulario, WhatsApp/asistente de llamado y traspaso automático de guardia.</a:t>
            </a:r>
            <a:endParaRPr lang="en-US" sz="760" dirty="0"/>
          </a:p>
        </p:txBody>
      </p:sp>
      <p:sp>
        <p:nvSpPr>
          <p:cNvPr id="83" name="Shape 80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85" name="Text 82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Continuar marcha blanca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Priorizar mejoras del formulario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Caso negocio guardia automática</a:t>
            </a:r>
            <a:endParaRPr lang="en-US" sz="720" dirty="0"/>
          </a:p>
        </p:txBody>
      </p:sp>
      <p:sp>
        <p:nvSpPr>
          <p:cNvPr id="86" name="Shape 83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7" name="Text 84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Costo Twilio / financiamiento NTT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Falsos positivos en horas infladas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Criterio de cierre marcha blanca</a:t>
            </a:r>
            <a:endParaRPr lang="en-US" sz="720" dirty="0"/>
          </a:p>
        </p:txBody>
      </p:sp>
      <p:sp>
        <p:nvSpPr>
          <p:cNvPr id="89" name="Shape 86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90" name="Text 87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WhatsApp ya opera con pruebas reales como marcha blanca.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93" name="Text 90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4</a:t>
            </a:r>
            <a:endParaRPr lang="en-US" sz="620" dirty="0"/>
          </a:p>
        </p:txBody>
      </p:sp>
      <p:sp>
        <p:nvSpPr>
          <p:cNvPr id="94" name="Shape 91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96" name="Shape 93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99" name="Shape 96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1" name="Text 98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3 — Dashboard de Gestión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3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LEVANTAMIENTO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Activar entrevistas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Identificar usuarios clave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67512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Levantar dolores de gestión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INDICADORES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Vista de productos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Incidencias de ingestas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3538728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94760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Tipo de soporte por producto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3538728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94760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Carga / recurrencia operativa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DISEÑO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visualización inicial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Capacitación sobre tarjetas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6409944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65976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Validar con Caro / Omar / Coni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MVP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primera versión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Validar fuentes de datos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9281160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537192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Ajustar según feedback</a:t>
            </a:r>
            <a:endParaRPr lang="en-US" sz="820" dirty="0"/>
          </a:p>
        </p:txBody>
      </p:sp>
      <p:sp>
        <p:nvSpPr>
          <p:cNvPr id="53" name="Shape 50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14400" y="5102352"/>
            <a:ext cx="0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0%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0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0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13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13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Omar / Caro / Coni (por confirmar)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En definición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0%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Construir una vista ejecutiva de productos, incidencias, tipos de soporte y carga operativa.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Requiere activarse con entrevistas para entender qué hay y qué necesita el equipo.</a:t>
            </a:r>
            <a:endParaRPr lang="en-US" sz="760" dirty="0"/>
          </a:p>
        </p:txBody>
      </p:sp>
      <p:sp>
        <p:nvSpPr>
          <p:cNvPr id="64" name="Shape 61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Activar entrevistas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Definir indicadores mínimos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Diseñar primera visualización</a:t>
            </a:r>
            <a:endParaRPr lang="en-US" sz="720" dirty="0"/>
          </a:p>
        </p:txBody>
      </p:sp>
      <p:sp>
        <p:nvSpPr>
          <p:cNvPr id="67" name="Shape 64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Fuentes de datos no definidas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Necesidades aún no levantadas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Dependencia de usuarios clave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No reemplaza dashboards técnicos; complementa con gestión ejecutiva.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74" name="Text 71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5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77" name="Shape 74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4 — Portal Interno de Soporte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4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DESCUBRIMIENTO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Alcance en definición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Entrevistas con usuarios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67512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3544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Levantar necesidades reales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ESTRUCTURA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navegación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secciones principales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3538728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94760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Priorizar contenidos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CONTENIDO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Documentación útil soporte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Runbooks / procedimientos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6409944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65976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Dashboards y accesos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409944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65976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Welcome KIT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MVP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Primera versión del portal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Validación con Coni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9281160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537192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Apoyo preliminar Centinela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56" name="Shape 53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5102352"/>
            <a:ext cx="69494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4%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0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1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12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13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Coni · apoyo preliminar: Centinela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En definición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4%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Centralizar información útil para soporte: documentación, accesos, runbooks y recursos.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Primera instancia: definir necesidades reales mediante entrevistas y diseño preliminar.</a:t>
            </a:r>
            <a:endParaRPr lang="en-US" sz="760" dirty="0"/>
          </a:p>
        </p:txBody>
      </p:sp>
      <p:sp>
        <p:nvSpPr>
          <p:cNvPr id="65" name="Shape 62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Definir alcance de primera versión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Entrevistas de levantamiento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Diseñar MVP del portal</a:t>
            </a:r>
            <a:endParaRPr lang="en-US" sz="720" dirty="0"/>
          </a:p>
        </p:txBody>
      </p:sp>
      <p:sp>
        <p:nvSpPr>
          <p:cNvPr id="68" name="Shape 65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Alcance aún abierto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Riesgo de portal estático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Dependencia de información actualizada</a:t>
            </a:r>
            <a:endParaRPr lang="en-US" sz="720" dirty="0"/>
          </a:p>
        </p:txBody>
      </p:sp>
      <p:sp>
        <p:nvSpPr>
          <p:cNvPr id="71" name="Shape 68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Debe funcionar como punto único de entrada para soporte.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75" name="Text 72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6</a:t>
            </a:r>
            <a:endParaRPr lang="en-US" sz="620" dirty="0"/>
          </a:p>
        </p:txBody>
      </p:sp>
      <p:sp>
        <p:nvSpPr>
          <p:cNvPr id="76" name="Shape 73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81" name="Shape 78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5 — IA GEN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5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ALINEAMIENTO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Primera coordinación generada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Reunión con Pablo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67512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" y="270296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23544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precondiciones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CASO DE NEGOCIO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Dolor que resolverá el bot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Usuarios objetivo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3538728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94760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Beneficio esperado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3538728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94760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Criterios de éxito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BOT DOCUMENTACIÓN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fuentes documentales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permisos / gobierno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6409944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65976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Diseñar MVP</a:t>
            </a:r>
            <a:endParaRPr lang="en-US" sz="820" dirty="0"/>
          </a:p>
        </p:txBody>
      </p:sp>
      <p:sp>
        <p:nvSpPr>
          <p:cNvPr id="47" name="Shape 44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EJECUCIÓN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Equipo ideal: David, Javier y Omar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288475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Capacitación Pablo / Mathias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9281160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537192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Piloto controlado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14400" y="5102352"/>
            <a:ext cx="330098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19%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1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3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9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13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Gema · Pablo / Mathias · ideal: Javier / Omar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Iniciado / en definición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19%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Desarrollar un bot de documentación para soporte con apoyo de IA generativa.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La salida concreta del track es el bot de documentación; antes se requiere caso de negocio y definición de fuentes.</a:t>
            </a:r>
            <a:endParaRPr lang="en-US" sz="760" dirty="0"/>
          </a:p>
        </p:txBody>
      </p:sp>
      <p:sp>
        <p:nvSpPr>
          <p:cNvPr id="68" name="Shape 65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Reunión con Pablo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Definir caso de negocio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Diseñar MVP del bot</a:t>
            </a:r>
            <a:endParaRPr lang="en-US" sz="720" dirty="0"/>
          </a:p>
        </p:txBody>
      </p:sp>
      <p:sp>
        <p:nvSpPr>
          <p:cNvPr id="71" name="Shape 68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Fuentes documentales dispersas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Gobierno / permisos de información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Criterios de éxito por definir</a:t>
            </a:r>
            <a:endParaRPr lang="en-US" sz="720" dirty="0"/>
          </a:p>
        </p:txBody>
      </p:sp>
      <p:sp>
        <p:nvSpPr>
          <p:cNvPr id="74" name="Shape 71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Capacitación de Pablo y Mathias como habilitador del desarrollo.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78" name="Text 75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7</a:t>
            </a:r>
            <a:endParaRPr lang="en-US" sz="620" dirty="0"/>
          </a:p>
        </p:txBody>
      </p:sp>
      <p:sp>
        <p:nvSpPr>
          <p:cNvPr id="79" name="Shape 76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81" name="Shape 78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6 — Capacitaciones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6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FOCO ACTUAL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Capacitaciones puntuales a NUR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63666A"/>
          </a:solidFill>
          <a:ln w="15875">
            <a:solidFill>
              <a:srgbClr val="6366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⏸</a:t>
            </a:r>
            <a:endParaRPr lang="en-US" sz="620" dirty="0"/>
          </a:p>
        </p:txBody>
      </p:sp>
      <p:sp>
        <p:nvSpPr>
          <p:cNvPr id="23" name="Text 20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Sin programa formal activo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EJECUCIÓN PUNTUAL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46043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Resolver dudas operativas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63666A"/>
          </a:solidFill>
          <a:ln w="15875">
            <a:solidFill>
              <a:srgbClr val="63666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46043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⏸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Acompañar adopción cuando aplique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MATERIALES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Documentar contenidos reutilizables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Dejar guías base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CONTINUIDAD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63666A"/>
          </a:solidFill>
          <a:ln w="15875">
            <a:solidFill>
              <a:srgbClr val="63666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288475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⏸</a:t>
            </a:r>
            <a:endParaRPr lang="en-US" sz="620" dirty="0"/>
          </a:p>
        </p:txBody>
      </p:sp>
      <p:sp>
        <p:nvSpPr>
          <p:cNvPr id="45" name="Text 42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Retomar según necesidad operativa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próximos ciclos si aplica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4400" y="5102352"/>
            <a:ext cx="225857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13%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0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2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6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8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Stand by / despriorizado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13%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Habilitar capacidades técnicas y operativas cuando la necesidad lo requiera.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Se desprioriza temporalmente para enfocar esfuerzo en tracks de mayor impacto inmediato.</a:t>
            </a:r>
            <a:endParaRPr lang="en-US" sz="760" dirty="0"/>
          </a:p>
        </p:txBody>
      </p:sp>
      <p:sp>
        <p:nvSpPr>
          <p:cNvPr id="59" name="Shape 56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Mantener apoyo puntual a NUR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Documentar materiales reutilizables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Retomar según prioridad operativa</a:t>
            </a:r>
            <a:endParaRPr lang="en-US" sz="720" dirty="0"/>
          </a:p>
        </p:txBody>
      </p:sp>
      <p:sp>
        <p:nvSpPr>
          <p:cNvPr id="62" name="Shape 59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Tiempo limitado del owner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Demanda no planificada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Sin programa formal activo</a:t>
            </a:r>
            <a:endParaRPr lang="en-US" sz="720" dirty="0"/>
          </a:p>
        </p:txBody>
      </p:sp>
      <p:sp>
        <p:nvSpPr>
          <p:cNvPr id="65" name="Shape 62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No se elimina: queda como soporte puntual bajo demanda.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69" name="Text 66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8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75" name="Shape 72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7 — Grafana y Permisologías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Track 7 | Alcance, avance y próximos pasos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PERMISOS ARQUITECTURA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3544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Revisión inicial custom role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67512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3544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Matriz de riesgo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67512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3544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Validación inicial en DEV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667512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3544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Revisión final con Luis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3374136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74136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38728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DATAPLATFORM DEV / UAT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538728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46043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794760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Grupo UAT creado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3538728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46043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794760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Rol supervisión UAT asociado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3538728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46043" y="270296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794760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Contributor Monitoring habilitado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3538728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94760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Permisos DEV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3538728" y="339699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94760" y="3383280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Data Factory / Cosmos / ADB / Storage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6245352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45352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9944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GRAFANA STG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409944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17259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65976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Instancia STG creada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6409944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17259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665976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Grupos Viewers / Editors</a:t>
            </a:r>
            <a:endParaRPr lang="en-US" sz="820" dirty="0"/>
          </a:p>
        </p:txBody>
      </p:sp>
      <p:sp>
        <p:nvSpPr>
          <p:cNvPr id="52" name="Shape 49"/>
          <p:cNvSpPr/>
          <p:nvPr/>
        </p:nvSpPr>
        <p:spPr>
          <a:xfrm>
            <a:off x="6409944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17259" y="270296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665976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Soporte con permisos editor</a:t>
            </a:r>
            <a:endParaRPr lang="en-US" sz="820" dirty="0"/>
          </a:p>
        </p:txBody>
      </p:sp>
      <p:sp>
        <p:nvSpPr>
          <p:cNvPr id="55" name="Shape 52"/>
          <p:cNvSpPr/>
          <p:nvPr/>
        </p:nvSpPr>
        <p:spPr>
          <a:xfrm>
            <a:off x="6409944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665976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viewers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6409944" y="339699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665976" y="3383280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Formularios corregidos</a:t>
            </a:r>
            <a:endParaRPr lang="en-US" sz="820" dirty="0"/>
          </a:p>
        </p:txBody>
      </p:sp>
      <p:sp>
        <p:nvSpPr>
          <p:cNvPr id="59" name="Shape 56"/>
          <p:cNvSpPr/>
          <p:nvPr/>
        </p:nvSpPr>
        <p:spPr>
          <a:xfrm>
            <a:off x="9116568" y="1335024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9116568" y="1335024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281160" y="14996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GRAFANA PRD / DEV12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9281160" y="200710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88475" y="200802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9537192" y="1993392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RFC PRD enviado</a:t>
            </a:r>
            <a:endParaRPr lang="en-US" sz="820" dirty="0"/>
          </a:p>
        </p:txBody>
      </p:sp>
      <p:sp>
        <p:nvSpPr>
          <p:cNvPr id="65" name="Shape 62"/>
          <p:cNvSpPr/>
          <p:nvPr/>
        </p:nvSpPr>
        <p:spPr>
          <a:xfrm>
            <a:off x="9281160" y="235458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288475" y="235549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9537192" y="2340864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RFC DEV 12 enviado</a:t>
            </a:r>
            <a:endParaRPr lang="en-US" sz="820" dirty="0"/>
          </a:p>
        </p:txBody>
      </p:sp>
      <p:sp>
        <p:nvSpPr>
          <p:cNvPr id="68" name="Shape 65"/>
          <p:cNvSpPr/>
          <p:nvPr/>
        </p:nvSpPr>
        <p:spPr>
          <a:xfrm>
            <a:off x="9281160" y="27020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537192" y="2688336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Crear instancias</a:t>
            </a:r>
            <a:endParaRPr lang="en-US" sz="820" dirty="0"/>
          </a:p>
        </p:txBody>
      </p:sp>
      <p:sp>
        <p:nvSpPr>
          <p:cNvPr id="70" name="Shape 67"/>
          <p:cNvSpPr/>
          <p:nvPr/>
        </p:nvSpPr>
        <p:spPr>
          <a:xfrm>
            <a:off x="9281160" y="304952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537192" y="3035808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Validar accesos soporte</a:t>
            </a:r>
            <a:endParaRPr lang="en-US" sz="820" dirty="0"/>
          </a:p>
        </p:txBody>
      </p:sp>
      <p:sp>
        <p:nvSpPr>
          <p:cNvPr id="72" name="Shape 69"/>
          <p:cNvSpPr/>
          <p:nvPr/>
        </p:nvSpPr>
        <p:spPr>
          <a:xfrm>
            <a:off x="9281160" y="339699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537192" y="3383280"/>
            <a:ext cx="2167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03B"/>
                </a:solidFill>
              </a:rPr>
              <a:t>Definir viewers / editors</a:t>
            </a:r>
            <a:endParaRPr lang="en-US" sz="820" dirty="0"/>
          </a:p>
        </p:txBody>
      </p:sp>
      <p:sp>
        <p:nvSpPr>
          <p:cNvPr id="74" name="Shape 71"/>
          <p:cNvSpPr/>
          <p:nvPr/>
        </p:nvSpPr>
        <p:spPr>
          <a:xfrm>
            <a:off x="502920" y="45262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704088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303B"/>
                </a:solidFill>
              </a:rPr>
              <a:t>Resumen actividades</a:t>
            </a:r>
            <a:endParaRPr lang="en-US" sz="820" dirty="0"/>
          </a:p>
        </p:txBody>
      </p:sp>
      <p:sp>
        <p:nvSpPr>
          <p:cNvPr id="76" name="Shape 73"/>
          <p:cNvSpPr/>
          <p:nvPr/>
        </p:nvSpPr>
        <p:spPr>
          <a:xfrm>
            <a:off x="914400" y="5102352"/>
            <a:ext cx="1737360" cy="164592"/>
          </a:xfrm>
          <a:prstGeom prst="rect">
            <a:avLst/>
          </a:prstGeom>
          <a:solidFill>
            <a:srgbClr val="EDEFF1"/>
          </a:solidFill>
          <a:ln w="12700">
            <a:solidFill>
              <a:srgbClr val="EDEFF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14400" y="5102352"/>
            <a:ext cx="816559" cy="1645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697480" y="5065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C95"/>
                </a:solidFill>
              </a:rPr>
              <a:t>47%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914400" y="5440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OK: 9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1828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En curso: 0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914400" y="5687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4303B"/>
                </a:solidFill>
              </a:rPr>
              <a:t>Pendiente/otros: 10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914400" y="5943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303B"/>
                </a:solidFill>
              </a:rPr>
              <a:t>Total: 19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3383280" y="4526280"/>
            <a:ext cx="48920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3593592" y="4672584"/>
            <a:ext cx="44714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Owner: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David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Equipo / manos: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Coordinación con Operaciones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Estado: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En curso | habilitador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Avance estimado: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47%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Objetivo: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Habilitar accesos, roles, permisos y ambientes Grafana necesarios para operar.
</a:t>
            </a:r>
            <a:pPr indent="0" marL="0">
              <a:buNone/>
            </a:pPr>
            <a:r>
              <a:rPr lang="en-US" sz="760" b="1" dirty="0">
                <a:solidFill>
                  <a:srgbClr val="24303B"/>
                </a:solidFill>
              </a:rPr>
              <a:t>Comentario: </a:t>
            </a:r>
            <a:pPr indent="0" marL="0">
              <a:buNone/>
            </a:pPr>
            <a:r>
              <a:rPr lang="en-US" sz="760" dirty="0">
                <a:solidFill>
                  <a:srgbClr val="24303B"/>
                </a:solidFill>
              </a:rPr>
              <a:t>Track con alta dependencia externa; permite que soporte tenga autonomía controlada.</a:t>
            </a:r>
            <a:endParaRPr lang="en-US" sz="760" dirty="0"/>
          </a:p>
        </p:txBody>
      </p:sp>
      <p:sp>
        <p:nvSpPr>
          <p:cNvPr id="85" name="Shape 82"/>
          <p:cNvSpPr/>
          <p:nvPr/>
        </p:nvSpPr>
        <p:spPr>
          <a:xfrm>
            <a:off x="8439912" y="45262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6" name="Text 83"/>
          <p:cNvSpPr/>
          <p:nvPr/>
        </p:nvSpPr>
        <p:spPr>
          <a:xfrm>
            <a:off x="8586216" y="4636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8C95"/>
                </a:solidFill>
              </a:rPr>
              <a:t>Próximos hitos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8586216" y="4873752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Construir matriz de riesgo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Cerrar permisos DEV/UAT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Crear y validar Grafana PRD / DEV12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8439912" y="5093208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89" name="Text 86"/>
          <p:cNvSpPr/>
          <p:nvPr/>
        </p:nvSpPr>
        <p:spPr>
          <a:xfrm>
            <a:off x="8586216" y="520293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102E"/>
                </a:solidFill>
              </a:rPr>
              <a:t>Dependencias / riesgos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586216" y="5440680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Dependencia de Operaciones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Validación con Luis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Tiempos de RFC / grupos / accesos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8439912" y="5660136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92" name="Text 89"/>
          <p:cNvSpPr/>
          <p:nvPr/>
        </p:nvSpPr>
        <p:spPr>
          <a:xfrm>
            <a:off x="8586216" y="576986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6A"/>
                </a:solidFill>
              </a:rPr>
              <a:t>Información adicional</a:t>
            </a:r>
            <a:endParaRPr lang="en-US" sz="850" dirty="0"/>
          </a:p>
        </p:txBody>
      </p:sp>
      <p:sp>
        <p:nvSpPr>
          <p:cNvPr id="93" name="Text 90"/>
          <p:cNvSpPr/>
          <p:nvPr/>
        </p:nvSpPr>
        <p:spPr>
          <a:xfrm>
            <a:off x="8586216" y="6007608"/>
            <a:ext cx="290779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3666A"/>
                </a:solidFill>
              </a:rPr>
              <a:t>Contributor Monitoring habilitado permite gestionar alertas en UAT Dataplatform.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95" name="Text 92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9</a:t>
            </a:r>
            <a:endParaRPr lang="en-US" sz="620" dirty="0"/>
          </a:p>
        </p:txBody>
      </p:sp>
      <p:sp>
        <p:nvSpPr>
          <p:cNvPr id="96" name="Shape 93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98" name="Shape 95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100" name="Text 97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101" name="Shape 98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3" name="Text 100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"/>
            <a:ext cx="146304" cy="219456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"/>
            <a:ext cx="146304" cy="219456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9496"/>
            <a:ext cx="146304" cy="21945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58952"/>
            <a:ext cx="146304" cy="219456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C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ejecutivo: próximos pasos y decisiones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21208" y="74980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6A"/>
                </a:solidFill>
              </a:rPr>
              <a:t>Roadmap tentativo por horizonte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098280" y="16459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468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303B"/>
                </a:solidFill>
              </a:rPr>
              <a:t>Fecha: 14 May 2026</a:t>
            </a:r>
            <a:endParaRPr lang="en-US" sz="800" dirty="0"/>
          </a:p>
        </p:txBody>
      </p:sp>
      <p:pic>
        <p:nvPicPr>
          <p:cNvPr id="10" name="Image 0" descr="/mnt/data/am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92024"/>
            <a:ext cx="969264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1042416"/>
            <a:ext cx="2834640" cy="50292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042416"/>
            <a:ext cx="2834640" cy="50292"/>
          </a:xfrm>
          <a:prstGeom prst="rect">
            <a:avLst/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042416"/>
            <a:ext cx="283464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0" y="1042416"/>
            <a:ext cx="2788920" cy="50292"/>
          </a:xfrm>
          <a:prstGeom prst="rect">
            <a:avLst/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132588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1325880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14904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0–2 semanas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207111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2057400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Cerrar ADA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31520" y="251002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2496312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Traspaso a soporte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31520" y="294894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Welcome KIT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31520" y="33878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3374136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Marcha blanca WhatsApp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31520" y="3826764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3813048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Permisos/Grafana críticos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355848" y="132588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55848" y="1325880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009CA6"/>
          </a:solidFill>
          <a:ln w="12700">
            <a:solidFill>
              <a:srgbClr val="009C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20440" y="14904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3–6 semanas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584448" y="207111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0" y="2057400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Primer producto por torre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584448" y="251002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0480" y="2496312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Entrevistas Portal / Dashboard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584448" y="294894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40480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Caso negocio bot IA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584448" y="33878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3374136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Mejoras formulario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208776" y="132588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08776" y="1325880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E5A823"/>
          </a:solidFill>
          <a:ln w="12700">
            <a:solidFill>
              <a:srgbClr val="E5A82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73368" y="14904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6–10 semanas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437376" y="207111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93408" y="2057400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MVP Portal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437376" y="251002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93408" y="2496312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MVP Dashboard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437376" y="294894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93408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Diseño bot documentación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37376" y="33878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93408" y="3374136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Evaluación guardia automática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9061704" y="132588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9061704" y="1325880"/>
            <a:ext cx="2679192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226296" y="14904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10+ semanas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9290304" y="2071116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546336" y="2057400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Escalar refactorización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9290304" y="2510028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546336" y="2496312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Formalizar automatizaciones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9290304" y="294894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546336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Evolución portal/dashboard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9290304" y="3387852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546336" y="3374136"/>
            <a:ext cx="198424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03B"/>
                </a:solidFill>
              </a:rPr>
              <a:t>Gobernanza continua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50292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7DBD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777240" y="5367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C95"/>
                </a:solidFill>
              </a:rPr>
              <a:t>Mensaje final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2148840" y="534924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03B"/>
                </a:solidFill>
              </a:rPr>
              <a:t>El objetivo es pasar de iniciativas aisladas a un modelo estructurado de soporte, con monitoreo estándar, automatizaciones, visibilidad ejecutiva y centralización del conocimiento.</a:t>
            </a:r>
            <a:endParaRPr lang="en-US" sz="920" dirty="0"/>
          </a:p>
        </p:txBody>
      </p:sp>
      <p:sp>
        <p:nvSpPr>
          <p:cNvPr id="64" name="Text 61"/>
          <p:cNvSpPr/>
          <p:nvPr/>
        </p:nvSpPr>
        <p:spPr>
          <a:xfrm>
            <a:off x="502920" y="656539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Soporte DAA | Roadmap de iniciativas</a:t>
            </a:r>
            <a:endParaRPr lang="en-US" sz="620" dirty="0"/>
          </a:p>
        </p:txBody>
      </p:sp>
      <p:sp>
        <p:nvSpPr>
          <p:cNvPr id="65" name="Text 62"/>
          <p:cNvSpPr/>
          <p:nvPr/>
        </p:nvSpPr>
        <p:spPr>
          <a:xfrm>
            <a:off x="1161288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AA0A6"/>
                </a:solidFill>
              </a:rPr>
              <a:t>10</a:t>
            </a:r>
            <a:endParaRPr lang="en-US" sz="620" dirty="0"/>
          </a:p>
        </p:txBody>
      </p:sp>
      <p:sp>
        <p:nvSpPr>
          <p:cNvPr id="66" name="Shape 63"/>
          <p:cNvSpPr/>
          <p:nvPr/>
        </p:nvSpPr>
        <p:spPr>
          <a:xfrm>
            <a:off x="7223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AEB4B9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47979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No iniciado</a:t>
            </a:r>
            <a:endParaRPr lang="en-US" sz="650" dirty="0"/>
          </a:p>
        </p:txBody>
      </p:sp>
      <p:sp>
        <p:nvSpPr>
          <p:cNvPr id="68" name="Shape 65"/>
          <p:cNvSpPr/>
          <p:nvPr/>
        </p:nvSpPr>
        <p:spPr>
          <a:xfrm>
            <a:off x="836676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E5A823"/>
          </a:solidFill>
          <a:ln w="15875">
            <a:solidFill>
              <a:srgbClr val="E5A82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37407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…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622792" y="6547104"/>
            <a:ext cx="402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En curso</a:t>
            </a:r>
            <a:endParaRPr lang="en-US" sz="650" dirty="0"/>
          </a:p>
        </p:txBody>
      </p:sp>
      <p:sp>
        <p:nvSpPr>
          <p:cNvPr id="71" name="Shape 68"/>
          <p:cNvSpPr/>
          <p:nvPr/>
        </p:nvSpPr>
        <p:spPr>
          <a:xfrm>
            <a:off x="9372600" y="6560820"/>
            <a:ext cx="182880" cy="182880"/>
          </a:xfrm>
          <a:prstGeom prst="roundRect">
            <a:avLst>
              <a:gd name="adj" fmla="val 12500"/>
            </a:avLst>
          </a:prstGeom>
          <a:solidFill>
            <a:srgbClr val="008C95"/>
          </a:solidFill>
          <a:ln w="15875">
            <a:solidFill>
              <a:srgbClr val="008C95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379915" y="656173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9628632" y="6547104"/>
            <a:ext cx="23774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24303B"/>
                </a:solidFill>
              </a:rPr>
              <a:t>OK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Soporte DAA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de iniciativas Soporte DAA</dc:title>
  <dc:subject>Roadmap de iniciativas Soporte DAA</dc:subject>
  <dc:creator>David Peñaloza</dc:creator>
  <cp:lastModifiedBy>David Peñaloza</cp:lastModifiedBy>
  <cp:revision>1</cp:revision>
  <dcterms:created xsi:type="dcterms:W3CDTF">2026-05-14T04:29:47Z</dcterms:created>
  <dcterms:modified xsi:type="dcterms:W3CDTF">2026-05-14T04:29:47Z</dcterms:modified>
</cp:coreProperties>
</file>